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01168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284C7"/>
                </a:solidFill>
                <a:latin typeface="맑은 고딕"/>
              </a:defRPr>
            </a:pPr>
            <a:r>
              <a:t>삼협철망(주)</a:t>
            </a:r>
          </a:p>
          <a:p>
            <a:pPr>
              <a:spcBef>
                <a:spcPts val="1200"/>
              </a:spcBef>
              <a:defRPr sz="3800" b="1">
                <a:solidFill>
                  <a:srgbClr val="FFFFFF"/>
                </a:solidFill>
                <a:latin typeface="맑은 고딕"/>
              </a:defRPr>
            </a:pPr>
            <a:r>
              <a:t>구글 애즈(Google Ads) 전환 추적 연동 가이드</a:t>
            </a:r>
          </a:p>
          <a:p>
            <a:pPr>
              <a:spcBef>
                <a:spcPts val="2400"/>
              </a:spcBef>
              <a:defRPr sz="1600">
                <a:solidFill>
                  <a:srgbClr val="64748B"/>
                </a:solidFill>
                <a:latin typeface="맑은 고딕"/>
              </a:defRPr>
            </a:pPr>
            <a:r>
              <a:t>B2B 간편 견적 카탈로그 웹사이트 광고 성과 및 문의 전환(Conversion) 측정 시스템 구축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맑은 고딕"/>
              </a:defRPr>
            </a:pPr>
            <a:r>
              <a:t>구글 애즈 전환 추적 연동 개요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800" b="1">
                <a:solidFill>
                  <a:srgbClr val="0284C7"/>
                </a:solidFill>
                <a:latin typeface="맑은 고딕"/>
              </a:defRPr>
            </a:pPr>
            <a:r>
              <a:t>📋 연동 시스템 프로필</a:t>
            </a:r>
          </a:p>
          <a:p>
            <a:pPr>
              <a:spcBef>
                <a:spcPts val="1400"/>
              </a:spcBef>
              <a:defRPr sz="1300">
                <a:solidFill>
                  <a:srgbClr val="1E293B"/>
                </a:solidFill>
                <a:latin typeface="맑은 고딕"/>
              </a:defRPr>
            </a:pPr>
            <a:r>
              <a:t>•  광고 계정 ID: 480-010-0186 (samhyupm)</a:t>
            </a:r>
          </a:p>
          <a:p>
            <a:pPr>
              <a:spcBef>
                <a:spcPts val="1400"/>
              </a:spcBef>
              <a:defRPr sz="1300">
                <a:solidFill>
                  <a:srgbClr val="1E293B"/>
                </a:solidFill>
                <a:latin typeface="맑은 고딕"/>
              </a:defRPr>
            </a:pPr>
            <a:r>
              <a:t>•  전환 목표 유형: 견적 요청 (Request Quote)</a:t>
            </a:r>
          </a:p>
          <a:p>
            <a:pPr>
              <a:spcBef>
                <a:spcPts val="1400"/>
              </a:spcBef>
              <a:defRPr sz="1300">
                <a:solidFill>
                  <a:srgbClr val="1E293B"/>
                </a:solidFill>
                <a:latin typeface="맑은 고딕"/>
              </a:defRPr>
            </a:pPr>
            <a:r>
              <a:t>•  전환 ID (Conversion ID): AW-750842470</a:t>
            </a:r>
          </a:p>
          <a:p>
            <a:pPr>
              <a:spcBef>
                <a:spcPts val="1400"/>
              </a:spcBef>
              <a:defRPr sz="1300">
                <a:solidFill>
                  <a:srgbClr val="1E293B"/>
                </a:solidFill>
                <a:latin typeface="맑은 고딕"/>
              </a:defRPr>
            </a:pPr>
            <a:r>
              <a:t>•  전환 라벨 (Conversion Label): hAmFCITOvM4cEObkg-YC</a:t>
            </a:r>
          </a:p>
          <a:p>
            <a:pPr>
              <a:spcBef>
                <a:spcPts val="1400"/>
              </a:spcBef>
              <a:defRPr sz="1300">
                <a:solidFill>
                  <a:srgbClr val="1E293B"/>
                </a:solidFill>
                <a:latin typeface="맑은 고딕"/>
              </a:defRPr>
            </a:pPr>
            <a:r>
              <a:t>•  매핑 매개변수: AW-750842470/hAmFCITOvM4cEObkg-YC</a:t>
            </a:r>
          </a:p>
          <a:p>
            <a:pPr>
              <a:spcBef>
                <a:spcPts val="1400"/>
              </a:spcBef>
              <a:defRPr sz="1300">
                <a:solidFill>
                  <a:srgbClr val="1E293B"/>
                </a:solidFill>
                <a:latin typeface="맑은 고딕"/>
              </a:defRPr>
            </a:pPr>
            <a:r>
              <a:t>•  전환 수 계산 방식: 1회 (동일 사용자 중복 집계 차단)</a:t>
            </a:r>
          </a:p>
          <a:p>
            <a:pPr>
              <a:spcBef>
                <a:spcPts val="1400"/>
              </a:spcBef>
              <a:defRPr sz="1300">
                <a:solidFill>
                  <a:srgbClr val="1E293B"/>
                </a:solidFill>
                <a:latin typeface="맑은 고딕"/>
              </a:defRPr>
            </a:pPr>
            <a:r>
              <a:t>•  할당 전환 가치: 1 KRW (고정 가치 기준 분석)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0" y="1463040"/>
            <a:ext cx="5120640" cy="45720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800" b="1">
                <a:solidFill>
                  <a:srgbClr val="0284C7"/>
                </a:solidFill>
                <a:latin typeface="맑은 고딕"/>
              </a:defRPr>
            </a:pPr>
            <a:r>
              <a:t>⚙️ 전환 데이터 연동 및 전송 원리</a:t>
            </a:r>
          </a:p>
          <a:p>
            <a:pPr>
              <a:spcBef>
                <a:spcPts val="1400"/>
              </a:spcBef>
              <a:defRPr sz="1200">
                <a:solidFill>
                  <a:srgbClr val="1E293B"/>
                </a:solidFill>
                <a:latin typeface="맑은 고딕"/>
              </a:defRPr>
            </a:pPr>
            <a:r>
              <a:t>1. 광고 유입: 사용자가 구글 검색 광고를 클릭하여 카탈로그 웹사이트로 유입 (gclid 매개변수 쿠키 생성)</a:t>
            </a:r>
          </a:p>
          <a:p>
            <a:pPr>
              <a:spcBef>
                <a:spcPts val="1400"/>
              </a:spcBef>
              <a:defRPr sz="1200">
                <a:solidFill>
                  <a:srgbClr val="1E293B"/>
                </a:solidFill>
                <a:latin typeface="맑은 고딕"/>
              </a:defRPr>
            </a:pPr>
            <a:r>
              <a:t>2. 글로벌 스크립트 작동: index.html 상단에 심긴 구글 광고 태그(AW-750842470)가 유입 데이터 초기화</a:t>
            </a:r>
          </a:p>
          <a:p>
            <a:pPr>
              <a:spcBef>
                <a:spcPts val="1400"/>
              </a:spcBef>
              <a:defRPr sz="1200">
                <a:solidFill>
                  <a:srgbClr val="1E293B"/>
                </a:solidFill>
                <a:latin typeface="맑은 고딕"/>
              </a:defRPr>
            </a:pPr>
            <a:r>
              <a:t>3. 전환 트리거 감지: 사용자가 견적 양식 작성 후 [견적 문의 전송하기] 버튼 클릭</a:t>
            </a:r>
          </a:p>
          <a:p>
            <a:pPr>
              <a:spcBef>
                <a:spcPts val="1400"/>
              </a:spcBef>
              <a:defRPr sz="1200">
                <a:solidFill>
                  <a:srgbClr val="1E293B"/>
                </a:solidFill>
                <a:latin typeface="맑은 고딕"/>
              </a:defRPr>
            </a:pPr>
            <a:r>
              <a:t>4. 성공 콜백 전송: AJAX 전송 성공(또는 mailto 프로그램 실행 시점) 콜백에서 gtag('event', 'conversion', ...) 함수 트리거</a:t>
            </a:r>
          </a:p>
          <a:p>
            <a:pPr>
              <a:spcBef>
                <a:spcPts val="1400"/>
              </a:spcBef>
              <a:defRPr sz="1200">
                <a:solidFill>
                  <a:srgbClr val="1E293B"/>
                </a:solidFill>
                <a:latin typeface="맑은 고딕"/>
              </a:defRPr>
            </a:pPr>
            <a:r>
              <a:t>5. 광고 성과 리포팅: 구글 애즈 대시보드에서 유입 키워드 및 소재 별 전환 실적 정밀 보고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맑은 고딕"/>
              </a:defRPr>
            </a:pPr>
            <a:r>
              <a:t>Step 01. 구글 애즈 대시보드 '목표' 메뉴 진입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4754880" cy="48463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/>
          <a:lstStyle/>
          <a:p>
            <a:pPr algn="ctr">
              <a:spcAft>
                <a:spcPts val="2000"/>
              </a:spcAft>
              <a:defRPr sz="1400" b="1">
                <a:solidFill>
                  <a:srgbClr val="1E293B"/>
                </a:solidFill>
                <a:latin typeface="맑은 고딕"/>
              </a:defRPr>
            </a:pPr>
            <a:r>
              <a:t>구글 애즈 로그인 후 왼쪽 사이드바에서 과녁 모양의 [목표] (🎯) 메뉴를 클릭한 뒤, [전환] -&gt; [요약] 화면으로 진입합니다.</a:t>
            </a:r>
          </a:p>
          <a:p>
            <a:pPr>
              <a:spcBef>
                <a:spcPts val="1200"/>
              </a:spcBef>
              <a:defRPr sz="1200">
                <a:solidFill>
                  <a:srgbClr val="64748B"/>
                </a:solidFill>
                <a:latin typeface="맑은 고딕"/>
              </a:defRPr>
            </a:pPr>
            <a:r>
              <a:t>• 좌측 주 메뉴에서 '목표(🎯)'를 선택하여 측정 탭을 활성화합니다.</a:t>
            </a:r>
          </a:p>
          <a:p>
            <a:pPr>
              <a:spcBef>
                <a:spcPts val="1200"/>
              </a:spcBef>
              <a:defRPr sz="1200">
                <a:solidFill>
                  <a:srgbClr val="64748B"/>
                </a:solidFill>
                <a:latin typeface="맑은 고딕"/>
              </a:defRPr>
            </a:pPr>
            <a:r>
              <a:t>• 사용자 데이터 수집의 기본이 되는 conversions 관리 화면의 출발점입니다.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720" y="1371600"/>
            <a:ext cx="566928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edia__178377157467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1417320"/>
            <a:ext cx="557784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맑은 고딕"/>
              </a:defRPr>
            </a:pPr>
            <a:r>
              <a:t>Step 02. 새 전환 액션 생성 개시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4754880" cy="48463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/>
          <a:lstStyle/>
          <a:p>
            <a:pPr algn="ctr">
              <a:spcAft>
                <a:spcPts val="2000"/>
              </a:spcAft>
              <a:defRPr sz="1400" b="1">
                <a:solidFill>
                  <a:srgbClr val="1E293B"/>
                </a:solidFill>
                <a:latin typeface="맑은 고딕"/>
              </a:defRPr>
            </a:pPr>
            <a:r>
              <a:t>전환 요약 페이지 중앙 우측에 위치한 파란색 [+ 전환 액션 만들기] 버튼을 클릭하여 웹사이트의 새 이벤트 등록 프로세스를 시작합니다.</a:t>
            </a:r>
          </a:p>
          <a:p>
            <a:pPr>
              <a:spcBef>
                <a:spcPts val="1200"/>
              </a:spcBef>
              <a:defRPr sz="1200">
                <a:solidFill>
                  <a:srgbClr val="64748B"/>
                </a:solidFill>
                <a:latin typeface="맑은 고딕"/>
              </a:defRPr>
            </a:pPr>
            <a:r>
              <a:t>• 이미 등록된 기존 애널리틱스 리드가 있는 상태에서 추가로 직접 연동합니다.</a:t>
            </a:r>
          </a:p>
          <a:p>
            <a:pPr>
              <a:spcBef>
                <a:spcPts val="1200"/>
              </a:spcBef>
              <a:defRPr sz="1200">
                <a:solidFill>
                  <a:srgbClr val="64748B"/>
                </a:solidFill>
                <a:latin typeface="맑은 고딕"/>
              </a:defRPr>
            </a:pPr>
            <a:r>
              <a:t>• 우측에 하이라이트된 파란색 버튼을 사용하여 단독 전환을 추가할 수 있습니다.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720" y="1371600"/>
            <a:ext cx="566928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edia__178377169725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1417320"/>
            <a:ext cx="557784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맑은 고딕"/>
              </a:defRPr>
            </a:pPr>
            <a:r>
              <a:t>Step 03. 대상 웹사이트 도메인 스캔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4754880" cy="48463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/>
          <a:lstStyle/>
          <a:p>
            <a:pPr algn="ctr">
              <a:spcAft>
                <a:spcPts val="2000"/>
              </a:spcAft>
              <a:defRPr sz="1400" b="1">
                <a:solidFill>
                  <a:srgbClr val="1E293B"/>
                </a:solidFill>
                <a:latin typeface="맑은 고딕"/>
              </a:defRPr>
            </a:pPr>
            <a:r>
              <a:t>측정할 소스로 '웹사이트에서의 전환'을 선택한 뒤, 삼협철망 모바일 카탈로그 임시 배포 주소(https://samhyup.vercel.app)를 입력하고 [검사]를 클릭합니다.</a:t>
            </a:r>
          </a:p>
          <a:p>
            <a:pPr>
              <a:spcBef>
                <a:spcPts val="1200"/>
              </a:spcBef>
              <a:defRPr sz="1200">
                <a:solidFill>
                  <a:srgbClr val="64748B"/>
                </a:solidFill>
                <a:latin typeface="맑은 고딕"/>
              </a:defRPr>
            </a:pPr>
            <a:r>
              <a:t>• 도메인 스캔을 통해 사이트의 기존 구글 태그 유무를 검사합니다.</a:t>
            </a:r>
          </a:p>
          <a:p>
            <a:pPr>
              <a:spcBef>
                <a:spcPts val="1200"/>
              </a:spcBef>
              <a:defRPr sz="1200">
                <a:solidFill>
                  <a:srgbClr val="64748B"/>
                </a:solidFill>
                <a:latin typeface="맑은 고딕"/>
              </a:defRPr>
            </a:pPr>
            <a:r>
              <a:t>• URL 입력창에 대상 주소를 정확히 기입하여 검사를 마칩니다.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720" y="1371600"/>
            <a:ext cx="566928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edia__178377179255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1417320"/>
            <a:ext cx="557784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맑은 고딕"/>
              </a:defRPr>
            </a:pPr>
            <a:r>
              <a:t>Step 04. Google 태그 리소스 체크 및 활성화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4754880" cy="48463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/>
          <a:lstStyle/>
          <a:p>
            <a:pPr algn="ctr">
              <a:spcAft>
                <a:spcPts val="2000"/>
              </a:spcAft>
              <a:defRPr sz="1400" b="1">
                <a:solidFill>
                  <a:srgbClr val="1E293B"/>
                </a:solidFill>
                <a:latin typeface="맑은 고딕"/>
              </a:defRPr>
            </a:pPr>
            <a:r>
              <a:t>스캔이 완료되면 데이터 소스 리스트 중 [Google 태그] 체크박스를 활성화하고 하단의 [완료] 단추를 누릅니다.</a:t>
            </a:r>
          </a:p>
          <a:p>
            <a:pPr>
              <a:spcBef>
                <a:spcPts val="1200"/>
              </a:spcBef>
              <a:defRPr sz="1200">
                <a:solidFill>
                  <a:srgbClr val="64748B"/>
                </a:solidFill>
                <a:latin typeface="맑은 고딕"/>
              </a:defRPr>
            </a:pPr>
            <a:r>
              <a:t>• samhyupm 계정의 직접 Google 태그와 GA4 소스가 연결되어 있는 것을 파악합니다.</a:t>
            </a:r>
          </a:p>
          <a:p>
            <a:pPr>
              <a:spcBef>
                <a:spcPts val="1200"/>
              </a:spcBef>
              <a:defRPr sz="1200">
                <a:solidFill>
                  <a:srgbClr val="64748B"/>
                </a:solidFill>
                <a:latin typeface="맑은 고딕"/>
              </a:defRPr>
            </a:pPr>
            <a:r>
              <a:t>• 체크 완료 후 [완료] 버튼을 눌러 소스 지정을 종결합니다.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720" y="1371600"/>
            <a:ext cx="566928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edia__17837720068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1417320"/>
            <a:ext cx="557784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맑은 고딕"/>
              </a:defRPr>
            </a:pPr>
            <a:r>
              <a:t>Step 05. 전환 카테고리 '견적 요청' 매핑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4754880" cy="48463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/>
          <a:lstStyle/>
          <a:p>
            <a:pPr algn="ctr">
              <a:spcAft>
                <a:spcPts val="2000"/>
              </a:spcAft>
              <a:defRPr sz="1400" b="1">
                <a:solidFill>
                  <a:srgbClr val="1E293B"/>
                </a:solidFill>
                <a:latin typeface="맑은 고딕"/>
              </a:defRPr>
            </a:pPr>
            <a:r>
              <a:t>전환을 그룹화하고 구글 AI 입찰의 타겟 품질을 결정할 카테고리로 가장 구체적이고 적합한 '견적 요청' 항목을 지정합니다.</a:t>
            </a:r>
          </a:p>
          <a:p>
            <a:pPr>
              <a:spcBef>
                <a:spcPts val="1200"/>
              </a:spcBef>
              <a:defRPr sz="1200">
                <a:solidFill>
                  <a:srgbClr val="64748B"/>
                </a:solidFill>
                <a:latin typeface="맑은 고딕"/>
              </a:defRPr>
            </a:pPr>
            <a:r>
              <a:t>• 단순 문의(리드 양식 제출)보다 B2B 비즈니스에 직결되는 '견적 요청'을 채택합니다.</a:t>
            </a:r>
          </a:p>
          <a:p>
            <a:pPr>
              <a:spcBef>
                <a:spcPts val="1200"/>
              </a:spcBef>
              <a:defRPr sz="1200">
                <a:solidFill>
                  <a:srgbClr val="64748B"/>
                </a:solidFill>
                <a:latin typeface="맑은 고딕"/>
              </a:defRPr>
            </a:pPr>
            <a:r>
              <a:t>• 정확한 기계 학습 및 광고 비용 최적화를 지원합니다.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720" y="1371600"/>
            <a:ext cx="566928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edia__178377208319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1417320"/>
            <a:ext cx="557784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맑은 고딕"/>
              </a:defRPr>
            </a:pPr>
            <a:r>
              <a:t>Step 06. 수동 전환 액션 생성 개시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4754880" cy="48463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/>
          <a:lstStyle/>
          <a:p>
            <a:pPr algn="ctr">
              <a:spcAft>
                <a:spcPts val="2000"/>
              </a:spcAft>
              <a:defRPr sz="1400" b="1">
                <a:solidFill>
                  <a:srgbClr val="1E293B"/>
                </a:solidFill>
                <a:latin typeface="맑은 고딕"/>
              </a:defRPr>
            </a:pPr>
            <a:r>
              <a:t>전환 그룹 설정 창 내부 중앙에 있는 [+ 전환 만들기] 버튼을 클릭하여 수동 연동을 활성화합니다.</a:t>
            </a:r>
          </a:p>
          <a:p>
            <a:pPr>
              <a:spcBef>
                <a:spcPts val="1200"/>
              </a:spcBef>
              <a:defRPr sz="1200">
                <a:solidFill>
                  <a:srgbClr val="64748B"/>
                </a:solidFill>
                <a:latin typeface="맑은 고딕"/>
              </a:defRPr>
            </a:pPr>
            <a:r>
              <a:t>• 템플릿 자동 감지 대신 수동으로 코드를 설치하는 작업의 첫 경로입니다.</a:t>
            </a:r>
          </a:p>
          <a:p>
            <a:pPr>
              <a:spcBef>
                <a:spcPts val="1200"/>
              </a:spcBef>
              <a:defRPr sz="1200">
                <a:solidFill>
                  <a:srgbClr val="64748B"/>
                </a:solidFill>
                <a:latin typeface="맑은 고딕"/>
              </a:defRPr>
            </a:pPr>
            <a:r>
              <a:t>• 중앙의 파란색 텍스트 링크를 눌러 다음 세부 옵션으로 접근합니다.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720" y="1371600"/>
            <a:ext cx="566928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edia__178377216266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1417320"/>
            <a:ext cx="557784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맑은 고딕"/>
              </a:defRPr>
            </a:pPr>
            <a:r>
              <a:t>Step 07. 수동 추적 데이터 소스 선택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4754880" cy="48463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/>
          <a:lstStyle/>
          <a:p>
            <a:pPr algn="ctr">
              <a:spcAft>
                <a:spcPts val="2000"/>
              </a:spcAft>
              <a:defRPr sz="1400" b="1">
                <a:solidFill>
                  <a:srgbClr val="1E293B"/>
                </a:solidFill>
                <a:latin typeface="맑은 고딕"/>
              </a:defRPr>
            </a:pPr>
            <a:r>
              <a:t>전환 생성 팝업에서 추적 소스로 구글 광고의 원천 태그 리소스인 'samhyupm' (방패 아이콘)을 선택합니다.</a:t>
            </a:r>
          </a:p>
          <a:p>
            <a:pPr>
              <a:spcBef>
                <a:spcPts val="1200"/>
              </a:spcBef>
              <a:defRPr sz="1200">
                <a:solidFill>
                  <a:srgbClr val="64748B"/>
                </a:solidFill>
                <a:latin typeface="맑은 고딕"/>
              </a:defRPr>
            </a:pPr>
            <a:r>
              <a:t>• GA4 데이터 연동 방식보다 직접적이고 실시간 전송 신뢰도가 우수한 Google 태그 기반을 선택합니다.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720" y="1371600"/>
            <a:ext cx="566928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edia__17837721890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1417320"/>
            <a:ext cx="557784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맑은 고딕"/>
              </a:defRPr>
            </a:pPr>
            <a:r>
              <a:t>Step 08. 수동 측정 코드 설치 방식 결정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4754880" cy="48463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/>
          <a:lstStyle/>
          <a:p>
            <a:pPr algn="ctr">
              <a:spcAft>
                <a:spcPts val="2000"/>
              </a:spcAft>
              <a:defRPr sz="1400" b="1">
                <a:solidFill>
                  <a:srgbClr val="1E293B"/>
                </a:solidFill>
                <a:latin typeface="맑은 고딕"/>
              </a:defRPr>
            </a:pPr>
            <a:r>
              <a:t>전환 생성 옵션 중 '코드를 사용하여 수동으로' 라디오 버튼을 선택하여 자바스크립트 성공 함수에 삽입할 스니펫을 준비합니다.</a:t>
            </a:r>
          </a:p>
          <a:p>
            <a:pPr>
              <a:spcBef>
                <a:spcPts val="1200"/>
              </a:spcBef>
              <a:defRPr sz="1200">
                <a:solidFill>
                  <a:srgbClr val="64748B"/>
                </a:solidFill>
                <a:latin typeface="맑은 고딕"/>
              </a:defRPr>
            </a:pPr>
            <a:r>
              <a:t>• 코드 없이 시스템이 추측하는 자동 감지 방식은 싱글페이지(SPA)에서 오차가 잦아 수동 설치를 결정합니다.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720" y="1371600"/>
            <a:ext cx="566928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edia__178377223387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1417320"/>
            <a:ext cx="557784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맑은 고딕"/>
              </a:defRPr>
            </a:pPr>
            <a:r>
              <a:t>Step 09. 전환 가치 고정 설정 (1 KRW)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4754880" cy="48463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/>
          <a:lstStyle/>
          <a:p>
            <a:pPr algn="ctr">
              <a:spcAft>
                <a:spcPts val="2000"/>
              </a:spcAft>
              <a:defRPr sz="1400" b="1">
                <a:solidFill>
                  <a:srgbClr val="1E293B"/>
                </a:solidFill>
                <a:latin typeface="맑은 고딕"/>
              </a:defRPr>
            </a:pPr>
            <a:r>
              <a:t>전환 가치 계산 방식으로 '모든 전환에서 동일한 가치 사용'을 선택하고 고정 금액으로 '1원'을 입력합니다.</a:t>
            </a:r>
          </a:p>
          <a:p>
            <a:pPr>
              <a:spcBef>
                <a:spcPts val="1200"/>
              </a:spcBef>
              <a:defRPr sz="1200">
                <a:solidFill>
                  <a:srgbClr val="64748B"/>
                </a:solidFill>
                <a:latin typeface="맑은 고딕"/>
              </a:defRPr>
            </a:pPr>
            <a:r>
              <a:t>• 실제 거래 금액이 고정되어 있지 않은 B2B 문의이므로 가치 값을 최소 기준인 1원 또는 기본 가치로 묶어 측정합니다.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720" y="1371600"/>
            <a:ext cx="566928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edia__17837724947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1417320"/>
            <a:ext cx="557784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맑은 고딕"/>
              </a:defRPr>
            </a:pPr>
            <a:r>
              <a:t>Step 10. 전환수 집계 기준 설정 (1회 제한)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4754880" cy="48463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/>
          <a:lstStyle/>
          <a:p>
            <a:pPr algn="ctr">
              <a:spcAft>
                <a:spcPts val="2000"/>
              </a:spcAft>
              <a:defRPr sz="1400" b="1">
                <a:solidFill>
                  <a:srgbClr val="1E293B"/>
                </a:solidFill>
                <a:latin typeface="맑은 고딕"/>
              </a:defRPr>
            </a:pPr>
            <a:r>
              <a:t>전환 수 카운트 기준을 '1회'로 세팅하여 단일 유저가 버튼을 반복 타격하여 수집 중복이 생기는 오류를 통제합니다.</a:t>
            </a:r>
          </a:p>
          <a:p>
            <a:pPr>
              <a:spcBef>
                <a:spcPts val="1200"/>
              </a:spcBef>
              <a:defRPr sz="1200">
                <a:solidFill>
                  <a:srgbClr val="64748B"/>
                </a:solidFill>
                <a:latin typeface="맑은 고딕"/>
              </a:defRPr>
            </a:pPr>
            <a:r>
              <a:t>• 구매 전환과 달리 리드(문의) 전환은 중복을 걷어내고 유니크한 가망고객의 폼 접수 건수만 1회로 산출해야 광고 효율이 정확해집니다.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720" y="1371600"/>
            <a:ext cx="566928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edia__178377252407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1417320"/>
            <a:ext cx="557784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맑은 고딕"/>
              </a:defRPr>
            </a:pPr>
            <a:r>
              <a:t>Step 11. 설정 사항 저장 및 계정 계속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4754880" cy="48463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/>
          <a:lstStyle/>
          <a:p>
            <a:pPr algn="ctr">
              <a:spcAft>
                <a:spcPts val="2000"/>
              </a:spcAft>
              <a:defRPr sz="1400" b="1">
                <a:solidFill>
                  <a:srgbClr val="1E293B"/>
                </a:solidFill>
                <a:latin typeface="맑은 고딕"/>
              </a:defRPr>
            </a:pPr>
            <a:r>
              <a:t>입력한 수동 전환의 주요 항목(가치, 카운트, 기여 등) 설정 완료 상태를 검토하고 하단 파란색 [저장하고 계속하기]를 클릭합니다.</a:t>
            </a:r>
          </a:p>
          <a:p>
            <a:pPr>
              <a:spcBef>
                <a:spcPts val="1200"/>
              </a:spcBef>
              <a:defRPr sz="1200">
                <a:solidFill>
                  <a:srgbClr val="64748B"/>
                </a:solidFill>
                <a:latin typeface="맑은 고딕"/>
              </a:defRPr>
            </a:pPr>
            <a:r>
              <a:t>• 설정된 목록을 리스트에서 최종 점검하고 계정에 저장하여 태그를 생성합니다.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720" y="1371600"/>
            <a:ext cx="566928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edia__178377254938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1417320"/>
            <a:ext cx="557784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맑은 고딕"/>
              </a:defRPr>
            </a:pPr>
            <a:r>
              <a:t>Step 12. 태그 세팅 화면 및 이벤트 스니펫 관리 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4754880" cy="48463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/>
          <a:lstStyle/>
          <a:p>
            <a:pPr algn="ctr">
              <a:spcAft>
                <a:spcPts val="2000"/>
              </a:spcAft>
              <a:defRPr sz="1400" b="1">
                <a:solidFill>
                  <a:srgbClr val="1E293B"/>
                </a:solidFill>
                <a:latin typeface="맑은 고딕"/>
              </a:defRPr>
            </a:pPr>
            <a:r>
              <a:t>전환이 만들어진 후 최종 태그 발급 단계에서 사이트에 소스코드를 이식하기 위해 하단의 '2. 이벤트 스니펫으로 개별 전환 측정하기' 영역으로 포커싱합니다.</a:t>
            </a:r>
          </a:p>
          <a:p>
            <a:pPr>
              <a:spcBef>
                <a:spcPts val="1200"/>
              </a:spcBef>
              <a:defRPr sz="1200">
                <a:solidFill>
                  <a:srgbClr val="64748B"/>
                </a:solidFill>
                <a:latin typeface="맑은 고딕"/>
              </a:defRPr>
            </a:pPr>
            <a:r>
              <a:t>• 이벤트 스니펫 보기 링크를 통해 카탈로그 전송 전용 고유 식별 주소(Label)가 든 태그를 추출할 차례입니다.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720" y="1371600"/>
            <a:ext cx="566928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edia__17837725583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1417320"/>
            <a:ext cx="557784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맑은 고딕"/>
              </a:defRPr>
            </a:pPr>
            <a:r>
              <a:t>Step 13. 이벤트 스니펫 코드 발급 및 복사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4754880" cy="48463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/>
          <a:lstStyle/>
          <a:p>
            <a:pPr algn="ctr">
              <a:spcAft>
                <a:spcPts val="2000"/>
              </a:spcAft>
              <a:defRPr sz="1400" b="1">
                <a:solidFill>
                  <a:srgbClr val="1E293B"/>
                </a:solidFill>
                <a:latin typeface="맑은 고딕"/>
              </a:defRPr>
            </a:pPr>
            <a:r>
              <a:t>최종 팝업 화면에서 '페이지 로드' 타입이 체크된 스니펫 코드 박스 내의 영문 태그(AW-750842470/hAmFCITOvM4cEObkg-YC)를 클립보드에 복사합니다.</a:t>
            </a:r>
          </a:p>
          <a:p>
            <a:pPr>
              <a:spcBef>
                <a:spcPts val="1200"/>
              </a:spcBef>
              <a:defRPr sz="1200">
                <a:solidFill>
                  <a:srgbClr val="64748B"/>
                </a:solidFill>
                <a:latin typeface="맑은 고딕"/>
              </a:defRPr>
            </a:pPr>
            <a:r>
              <a:t>• 발급된 코드는 웹 카탈로그 app.js 파일의 AJAX 전송 완료 콜백 구간에 그대로 이식되어 작동하게 됩니다.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720" y="1371600"/>
            <a:ext cx="566928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edia__178377261576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1417320"/>
            <a:ext cx="557784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맑은 고딕"/>
              </a:defRPr>
            </a:pPr>
            <a:r>
              <a:t>개발 측 웹사이트 소스코드 탑재 세역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spcAft>
                <a:spcPts val="1000"/>
              </a:spcAft>
              <a:defRPr sz="1600" b="1">
                <a:solidFill>
                  <a:srgbClr val="0284C7"/>
                </a:solidFill>
                <a:latin typeface="맑은 고딕"/>
              </a:defRPr>
            </a:pPr>
            <a:r>
              <a:t>📄 index.html (글로벌 태그 탑재)</a:t>
            </a:r>
          </a:p>
          <a:p>
            <a:pPr>
              <a:spcBef>
                <a:spcPts val="1000"/>
              </a:spcBef>
              <a:defRPr sz="1000">
                <a:solidFill>
                  <a:srgbClr val="1E293B"/>
                </a:solidFill>
                <a:latin typeface="Consolas"/>
              </a:defRPr>
            </a:pPr>
            <a:r>
              <a:t>&lt;!-- Google tag (gtag.js) - Google Ads --&gt;</a:t>
            </a:r>
            <a:br/>
            <a:r>
              <a:t>&lt;script async src="https://www.googletagmanager.com/gtag/js?id=AW-750842470"&gt;&lt;/script&gt;</a:t>
            </a:r>
            <a:br/>
            <a:r>
              <a:t>&lt;script&gt;</a:t>
            </a:r>
            <a:br/>
            <a:r>
              <a:t>  window.dataLayer = window.dataLayer || [];</a:t>
            </a:r>
            <a:br/>
            <a:r>
              <a:t>  function gtag(){dataLayer.push(arguments);}</a:t>
            </a:r>
            <a:br/>
            <a:r>
              <a:t>  gtag('js', new Date());</a:t>
            </a:r>
            <a:br/>
            <a:br/>
            <a:r>
              <a:t>  gtag('config', 'AW-750842470');</a:t>
            </a:r>
            <a:br/>
            <a:r>
              <a:t>&lt;/script&gt;</a:t>
            </a:r>
          </a:p>
          <a:p>
            <a:pPr>
              <a:spcBef>
                <a:spcPts val="2000"/>
              </a:spcBef>
              <a:defRPr sz="1100">
                <a:solidFill>
                  <a:srgbClr val="64748B"/>
                </a:solidFill>
                <a:latin typeface="맑은 고딕"/>
              </a:defRPr>
            </a:pPr>
            <a:r>
              <a:t>설명: 모든 웹 방문자의 브라우저를 식별하고 전환의 기점이 되는 gtag 쿠키 및 라이브러리를 head 최하단에 선언하여 광고 시스템 유입 여부를 정밀 분석합니다.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371600"/>
            <a:ext cx="5120640" cy="48463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spcAft>
                <a:spcPts val="1000"/>
              </a:spcAft>
              <a:defRPr sz="1600" b="1">
                <a:solidFill>
                  <a:srgbClr val="0284C7"/>
                </a:solidFill>
                <a:latin typeface="맑은 고딕"/>
              </a:defRPr>
            </a:pPr>
            <a:r>
              <a:t>⚡ app.js (성공 콜백 연동)</a:t>
            </a:r>
          </a:p>
          <a:p>
            <a:pPr>
              <a:spcBef>
                <a:spcPts val="1000"/>
              </a:spcBef>
              <a:defRPr sz="1000">
                <a:solidFill>
                  <a:srgbClr val="1E293B"/>
                </a:solidFill>
                <a:latin typeface="Consolas"/>
              </a:defRPr>
            </a:pPr>
            <a:r>
              <a:t>fetch("https://formsubmit.co/ajax/...", {</a:t>
            </a:r>
            <a:br/>
            <a:r>
              <a:t>    method: "POST",</a:t>
            </a:r>
            <a:br/>
            <a:r>
              <a:t>    body: formData</a:t>
            </a:r>
            <a:br/>
            <a:r>
              <a:t>})</a:t>
            </a:r>
            <a:br/>
            <a:r>
              <a:t>.then(response =&gt; {</a:t>
            </a:r>
            <a:br/>
            <a:r>
              <a:t>    if (response.ok) {</a:t>
            </a:r>
            <a:br/>
            <a:r>
              <a:t>        // Google Ads 전환이벤트 발행</a:t>
            </a:r>
            <a:br/>
            <a:r>
              <a:t>        if (typeof gtag === 'function') {</a:t>
            </a:r>
            <a:br/>
            <a:r>
              <a:t>            gtag('event', 'conversion', {</a:t>
            </a:r>
            <a:br/>
            <a:r>
              <a:t>                'send_to': 'AW-750842470/hAmFCITOvM4cEObkg-YC'</a:t>
            </a:r>
            <a:br/>
            <a:r>
              <a:t>            });</a:t>
            </a:r>
            <a:br/>
            <a:r>
              <a:t>        }</a:t>
            </a:r>
            <a:br/>
            <a:r>
              <a:t>        alert('견적 문의가 접수되었습니다!');</a:t>
            </a:r>
            <a:br/>
            <a:r>
              <a:t>    }</a:t>
            </a:r>
            <a:br/>
            <a:r>
              <a:t>})</a:t>
            </a:r>
          </a:p>
          <a:p>
            <a:pPr>
              <a:spcBef>
                <a:spcPts val="2000"/>
              </a:spcBef>
              <a:defRPr sz="1100">
                <a:solidFill>
                  <a:srgbClr val="64748B"/>
                </a:solidFill>
                <a:latin typeface="맑은 고딕"/>
              </a:defRPr>
            </a:pPr>
            <a:r>
              <a:t>설명: FormSubmit API 전송이 성공 완료되는 즉시 gtag() 전환 함수를 백그라운드 호출하며, 메일 프로그램 실행 시점(mailto 폴백)에도 똑같이 집계되어 실적 유실을 방어합니다.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