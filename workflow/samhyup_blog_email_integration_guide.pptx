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2011680"/>
            <a:ext cx="10817352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08173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삼협철망 B2B 인프라 운영 가이드</a:t>
            </a:r>
          </a:p>
          <a:p>
            <a:pPr>
              <a:spcBef>
                <a:spcPts val="2000"/>
              </a:spcBef>
              <a:defRPr sz="1800">
                <a:solidFill>
                  <a:srgbClr val="0284C7"/>
                </a:solidFill>
                <a:latin typeface="Malgun Gothic"/>
              </a:defRPr>
            </a:pPr>
            <a:r>
              <a:t>이메일 발신/수신 이원화 및 네이버 블로그 안전 발행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0"/>
            <a:ext cx="10817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algun Gothic"/>
              </a:defRPr>
            </a:pPr>
            <a:r>
              <a:t>삼협철망 B2B 마케팅 시스템 구축 프로젝트  |  실무 담당자 전달용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algun Gothic"/>
              </a:defRPr>
            </a:pPr>
            <a:r>
              <a:t>1. B2B 견적 알림메일 발송/수신 이원화 방안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7160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 b="1">
                <a:solidFill>
                  <a:srgbClr val="EF4444"/>
                </a:solidFill>
                <a:latin typeface="Malgun Gothic"/>
              </a:defRPr>
            </a:pPr>
            <a:r>
              <a:t>기존 방식의 한계 (네이버 메일)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Malgun Gothic"/>
              </a:defRPr>
            </a:pPr>
            <a:r>
              <a:t>• 네이버 단체 계정(samhyupm)의 로그인 제약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Malgun Gothic"/>
              </a:defRPr>
            </a:pPr>
            <a:r>
              <a:t>• 2단계 인증 기기 연동이 불가능하여 외부 접속 차단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Malgun Gothic"/>
              </a:defRPr>
            </a:pPr>
            <a:r>
              <a:t>• 네이버 보안정책 업데이트 시 자동 견적 알림 발송 실패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Malgun Gothic"/>
              </a:defRPr>
            </a:pPr>
            <a:r>
              <a:t>• 지속적인 비밀번호 연동 갱신 등 관리 소모 비용 증가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82512" y="137160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11112" y="155448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 b="1">
                <a:solidFill>
                  <a:srgbClr val="10B981"/>
                </a:solidFill>
                <a:latin typeface="Malgun Gothic"/>
              </a:defRPr>
            </a:pPr>
            <a:r>
              <a:t>개선 방식 (발송/수신 이원화)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Malgun Gothic"/>
              </a:defRPr>
            </a:pPr>
            <a:r>
              <a:t>• 발송(SMTP): 구글 광고용 Gmail (samhyupmesh@gmail.com)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Malgun Gothic"/>
              </a:defRPr>
            </a:pPr>
            <a:r>
              <a:t>• 수신(받는곳): 기존 대표 네이버 메일 (samhyupm@naver.com)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Malgun Gothic"/>
              </a:defRPr>
            </a:pPr>
            <a:r>
              <a:t>• 구글의 안정적인 메일 전송망 활용으로 전송률 100%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  <a:latin typeface="Malgun Gothic"/>
              </a:defRPr>
            </a:pPr>
            <a:r>
              <a:t>• 기존 마케팅 채널(광고/웹사이트) 노출 이메일 유지 가능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algun Gothic"/>
              </a:defRPr>
            </a:pPr>
            <a:r>
              <a:t>1-1. 이메일 이원화 동작 프로세스 및 기대효과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63040"/>
            <a:ext cx="32918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284C7"/>
                </a:solidFill>
                <a:latin typeface="Malgun Gothic"/>
              </a:defRPr>
            </a:pPr>
            <a:r>
              <a:t>Step 1. 견적 요청 접수</a:t>
            </a:r>
          </a:p>
          <a:p>
            <a:pPr>
              <a:lnSpc>
                <a:spcPct val="130000"/>
              </a:lnSpc>
              <a:defRPr sz="1200">
                <a:solidFill>
                  <a:srgbClr val="1E293B"/>
                </a:solidFill>
                <a:latin typeface="Malgun Gothic"/>
              </a:defRPr>
            </a:pPr>
            <a:r>
              <a:t>고객이 모바일 카탈로그에서 B2B 자재 견적 단가 문의 제출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463040"/>
            <a:ext cx="32918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6002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284C7"/>
                </a:solidFill>
                <a:latin typeface="Malgun Gothic"/>
              </a:defRPr>
            </a:pPr>
            <a:r>
              <a:t>Step 2. Gmail 엔진 가동</a:t>
            </a:r>
          </a:p>
          <a:p>
            <a:pPr>
              <a:lnSpc>
                <a:spcPct val="130000"/>
              </a:lnSpc>
              <a:defRPr sz="1200">
                <a:solidFill>
                  <a:srgbClr val="1E293B"/>
                </a:solidFill>
                <a:latin typeface="Malgun Gothic"/>
              </a:defRPr>
            </a:pPr>
            <a:r>
              <a:t>구글 전송망(samhyupmesh)을 통해 인증 블로킹 없이 알림 메일 즉시 발송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463040"/>
            <a:ext cx="32918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6002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284C7"/>
                </a:solidFill>
                <a:latin typeface="Malgun Gothic"/>
              </a:defRPr>
            </a:pPr>
            <a:r>
              <a:t>Step 3. 네이버 알림 수신</a:t>
            </a:r>
          </a:p>
          <a:p>
            <a:pPr>
              <a:lnSpc>
                <a:spcPct val="130000"/>
              </a:lnSpc>
              <a:defRPr sz="1200">
                <a:solidFill>
                  <a:srgbClr val="1E293B"/>
                </a:solidFill>
                <a:latin typeface="Malgun Gothic"/>
              </a:defRPr>
            </a:pPr>
            <a:r>
              <a:t>삼협 대표 메일(samhyupm)로 견적 접수 알림을 정상 수신 및 영업 개시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931920"/>
            <a:ext cx="10817352" cy="2011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10360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293B"/>
                </a:solidFill>
                <a:latin typeface="Malgun Gothic"/>
              </a:defRPr>
            </a:pPr>
            <a:r>
              <a:t>🎯 이원화 시스템의 기대 효과</a:t>
            </a:r>
          </a:p>
          <a:p>
            <a:pPr>
              <a:spcAft>
                <a:spcPts val="600"/>
              </a:spcAft>
              <a:defRPr sz="1300">
                <a:solidFill>
                  <a:srgbClr val="64748B"/>
                </a:solidFill>
                <a:latin typeface="Malgun Gothic"/>
              </a:defRPr>
            </a:pPr>
            <a:r>
              <a:t>• 실무진 보안 스트레스 해소: 네이버 단체계정의 까다로운 외부 접속 차단 규정을 피할 수 있습니다.</a:t>
            </a:r>
          </a:p>
          <a:p>
            <a:pPr>
              <a:spcAft>
                <a:spcPts val="600"/>
              </a:spcAft>
              <a:defRPr sz="1300">
                <a:solidFill>
                  <a:srgbClr val="64748B"/>
                </a:solidFill>
                <a:latin typeface="Malgun Gothic"/>
              </a:defRPr>
            </a:pPr>
            <a:r>
              <a:t>• 수신 신뢰도 보장: 글로벌 수준의 Gmail 메일 전송망을 사용하므로 알림 메일 누락 및 스팸 가능성을 원천 배제합니다.</a:t>
            </a:r>
          </a:p>
          <a:p>
            <a:pPr>
              <a:spcAft>
                <a:spcPts val="600"/>
              </a:spcAft>
              <a:defRPr sz="1300">
                <a:solidFill>
                  <a:srgbClr val="64748B"/>
                </a:solidFill>
                <a:latin typeface="Malgun Gothic"/>
              </a:defRPr>
            </a:pPr>
            <a:r>
              <a:t>• 기존 마케팅 자산 유지: 네이버 검색 및 오프라인 명함에 노출된 대표 네이버 이메일을 그대로 유지합니다.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algun Gothic"/>
              </a:defRPr>
            </a:pPr>
            <a:r>
              <a:t>2. 네이버 블로그 자동 등록(매크로) 프로그램의 치명적 리스크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63040"/>
            <a:ext cx="32918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EF4444"/>
                </a:solidFill>
                <a:latin typeface="Malgun Gothic"/>
              </a:defRPr>
            </a:pPr>
            <a:r>
              <a:t>🚨 검색 노출 영구 누락</a:t>
            </a:r>
            <a:br/>
            <a:r>
              <a:t>(저품질 블로그화)</a:t>
            </a:r>
          </a:p>
          <a:p>
            <a:pPr>
              <a:lnSpc>
                <a:spcPct val="130000"/>
              </a:lnSpc>
              <a:defRPr sz="1200">
                <a:solidFill>
                  <a:srgbClr val="1E293B"/>
                </a:solidFill>
                <a:latin typeface="Malgun Gothic"/>
              </a:defRPr>
            </a:pPr>
            <a:r>
              <a:t>네이버 검색 엔진 랭킹 시스템(C-Rank / DIA+)은 자동화 프로그램의 글쓰기 작성 속도 및 기계적 입력 패턴을 실시간 분석합니다. 감지 시 해당 블로그의 모든 글이 통합 검색 노출에서 제외되는 영구 제재(저품질화)를 받게 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463040"/>
            <a:ext cx="32918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EF4444"/>
                </a:solidFill>
                <a:latin typeface="Malgun Gothic"/>
              </a:defRPr>
            </a:pPr>
            <a:r>
              <a:t>🔒 보안 차단 상시 발생</a:t>
            </a:r>
            <a:br/>
            <a:r>
              <a:t>(로그인 캡차 적용)</a:t>
            </a:r>
          </a:p>
          <a:p>
            <a:pPr>
              <a:lnSpc>
                <a:spcPct val="130000"/>
              </a:lnSpc>
              <a:defRPr sz="1200">
                <a:solidFill>
                  <a:srgbClr val="1E293B"/>
                </a:solidFill>
                <a:latin typeface="Malgun Gothic"/>
              </a:defRPr>
            </a:pPr>
            <a:r>
              <a:t>가상 브라우저 로그인 시도 시 스팸 방지를 위한 캡차(CAPTCHA 보안 문자 난수 입력창)가 무조건 발생합니다. 결국 관리자의 수동 개입이 필요하여 100% 완전 자동화는 원천적으로 불가능합니다.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463040"/>
            <a:ext cx="32918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64592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1E293B"/>
                </a:solidFill>
                <a:latin typeface="Malgun Gothic"/>
              </a:defRPr>
            </a:pPr>
            <a:r>
              <a:t>🚫 공식 글쓰기 API 중단</a:t>
            </a:r>
            <a:br/>
            <a:r>
              <a:t>(네이버 정책)</a:t>
            </a:r>
          </a:p>
          <a:p>
            <a:pPr>
              <a:lnSpc>
                <a:spcPct val="130000"/>
              </a:lnSpc>
              <a:defRPr sz="1200">
                <a:solidFill>
                  <a:srgbClr val="1E293B"/>
                </a:solidFill>
                <a:latin typeface="Malgun Gothic"/>
              </a:defRPr>
            </a:pPr>
            <a:r>
              <a:t>네이버는 무분별한 광고 도배글 포스팅 대량 방지를 위해 2020년 5월부로 개인용 블로그 글쓰기 API 지원을 영구 종료했습니다. 현재 작동하는 자동 등록 프로그램은 비공식 매크로에 불과합니다.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algun Gothic"/>
              </a:defRPr>
            </a:pPr>
            <a:r>
              <a:t>2-1. 실무 가이드: 안전하고 효과적인 1분 수동 포스팅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71600"/>
            <a:ext cx="10817352" cy="7315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4303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💡 수동 업로드는 네이버 랭킹 검색 엔진이 '진짜 사람이 작성한 정상 글'로 100% 신뢰하여 상위 노출에 최고 효과적입니다.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377440"/>
            <a:ext cx="10817352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36015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 b="1">
                <a:solidFill>
                  <a:srgbClr val="1E293B"/>
                </a:solidFill>
                <a:latin typeface="Malgun Gothic"/>
              </a:defRPr>
            </a:pPr>
            <a:r>
              <a:t>📝 1분 완성 수동 포스팅 절차</a:t>
            </a:r>
          </a:p>
          <a:p>
            <a:pPr>
              <a:spcAft>
                <a:spcPts val="1200"/>
              </a:spcAft>
              <a:defRPr sz="1400" b="1">
                <a:solidFill>
                  <a:srgbClr val="0284C7"/>
                </a:solidFill>
                <a:latin typeface="Malgun Gothic"/>
              </a:defRPr>
            </a:pPr>
            <a:r>
              <a:t>1단계. 시안 페이지 열기 : </a:t>
            </a:r>
            <a:r>
              <a:rPr sz="1300" b="0">
                <a:solidFill>
                  <a:srgbClr val="1E293B"/>
                </a:solidFill>
                <a:latin typeface="Malgun Gothic"/>
              </a:rPr>
              <a:t>관리자 대시보드 상단 메뉴에서 [✍️ 공식 블로그 시안]을 클릭해 열람합니다. (보안검사 생략 자동 연동)</a:t>
            </a:r>
          </a:p>
          <a:p>
            <a:pPr>
              <a:spcAft>
                <a:spcPts val="1200"/>
              </a:spcAft>
              <a:defRPr sz="1400" b="1">
                <a:solidFill>
                  <a:srgbClr val="0284C7"/>
                </a:solidFill>
                <a:latin typeface="Malgun Gothic"/>
              </a:defRPr>
            </a:pPr>
            <a:r>
              <a:t>2단계. 본문 텍스트 복사 : </a:t>
            </a:r>
            <a:r>
              <a:rPr sz="1300" b="0">
                <a:solidFill>
                  <a:srgbClr val="1E293B"/>
                </a:solidFill>
                <a:latin typeface="Malgun Gothic"/>
              </a:rPr>
              <a:t>시안 화면의 본문 텍스트 전체를 마우스 드래그하여 복사(Ctrl + C)합니다.</a:t>
            </a:r>
          </a:p>
          <a:p>
            <a:pPr>
              <a:spcAft>
                <a:spcPts val="1200"/>
              </a:spcAft>
              <a:defRPr sz="1400" b="1">
                <a:solidFill>
                  <a:srgbClr val="0284C7"/>
                </a:solidFill>
                <a:latin typeface="Malgun Gothic"/>
              </a:defRPr>
            </a:pPr>
            <a:r>
              <a:t>3단계. 네이버 글쓰기 붙여넣기 : </a:t>
            </a:r>
            <a:r>
              <a:rPr sz="1300" b="0">
                <a:solidFill>
                  <a:srgbClr val="1E293B"/>
                </a:solidFill>
                <a:latin typeface="Malgun Gothic"/>
              </a:rPr>
              <a:t>네이버 로그인 후 블로그 에디터(SmartEditor ONE)를 열고 본문에 붙여넣기(Ctrl + V)합니다.</a:t>
            </a:r>
          </a:p>
          <a:p>
            <a:pPr>
              <a:spcAft>
                <a:spcPts val="1200"/>
              </a:spcAft>
              <a:defRPr sz="1400" b="1">
                <a:solidFill>
                  <a:srgbClr val="0284C7"/>
                </a:solidFill>
                <a:latin typeface="Malgun Gothic"/>
              </a:defRPr>
            </a:pPr>
            <a:r>
              <a:t>4단계. 본문 이미지 추가 및 발행 : </a:t>
            </a:r>
            <a:r>
              <a:rPr sz="1300" b="0">
                <a:solidFill>
                  <a:srgbClr val="1E293B"/>
                </a:solidFill>
                <a:latin typeface="Malgun Gothic"/>
              </a:rPr>
              <a:t>시안에 사용된 이미지 파일을 마우스 우클릭 저장 후 블로그 본문의 적절한 위치에 업로드하고 '발행'합니다.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